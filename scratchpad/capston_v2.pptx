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f7e6d87b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f7e6d87bc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f7e6d87b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f7e6d87bc_0_31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f7e6d87b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f7e6d87b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7e6d87bc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f7e6d87bc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f7e6d87b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f7e6d87b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Summary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11800" y="996750"/>
            <a:ext cx="8320500" cy="3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“Newcomb’s Problem one-boxing is just memorised from pre-training”</a:t>
            </a:r>
            <a:endParaRPr b="1" sz="1300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may be more complicated: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Q2.5-3b-it 1-boxes (EDT-consistent) w/ no-CoT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it 2-boxes (CDT-consistent) under SFT, RL, </a:t>
            </a: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🥄</a:t>
            </a: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-feeding the EV calc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Hypotheses/confounds</a:t>
            </a: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“Model doesn’t understand”: but CoT shows it comprehends NP, can calc EV, </a:t>
            </a:r>
            <a:r>
              <a:rPr lang="en-GB" sz="1300" u="sng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can’t reconcile Omega/predictor with EV dominance</a:t>
            </a:r>
            <a:endParaRPr sz="1300" u="sng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FDT-type prompt helps modestly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Q2.5-14b-it 2-boxes/CDT </a:t>
            </a:r>
            <a:r>
              <a:rPr i="1"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</a:t>
            </a: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than Q2.5-3b-it w/ CoT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R1-distill-llama4-8b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reasoning: 2-boxes just like Qwen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Helvetica Neue"/>
              <a:buChar char="-"/>
            </a:pPr>
            <a:r>
              <a:rPr lang="en-GB" sz="1300" u="sng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Reasoning: 1-boxes in EDT-consistent way</a:t>
            </a:r>
            <a:endParaRPr sz="1300" u="sng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</a:t>
            </a:r>
            <a:r>
              <a:rPr lang="en-GB" sz="1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200">
                <a:solidFill>
                  <a:srgbClr val="E8E8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small/mid LLM doesn't fail Newcomb because it can't do the math — it fails because of a DISPOSITION at the action-commitment step that overrides explicit computation, sharpens with scale, and is dissolved only by test-time reasoning.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5975850" y="4734073"/>
            <a:ext cx="3102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00">
                <a:solidFill>
                  <a:srgbClr val="5FD37A"/>
                </a:solidFill>
                <a:latin typeface="Calibri"/>
                <a:ea typeface="Calibri"/>
                <a:cs typeface="Calibri"/>
                <a:sym typeface="Calibri"/>
              </a:rPr>
              <a:t>Caveat: 1-2 LLMs; a few prompts/variations; truncated reasoning</a:t>
            </a:r>
            <a:endParaRPr b="1" i="1" sz="1000">
              <a:solidFill>
                <a:srgbClr val="5FD3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308618" y="150876"/>
            <a:ext cx="850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Disambiguating disposition vs capabilities vs</a:t>
            </a:r>
            <a:r>
              <a:rPr b="1" i="1" lang="en-GB" sz="20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conditional rule</a:t>
            </a:r>
            <a:endParaRPr sz="1100"/>
          </a:p>
        </p:txBody>
      </p:sp>
      <p:sp>
        <p:nvSpPr>
          <p:cNvPr id="137" name="Google Shape;137;p26"/>
          <p:cNvSpPr/>
          <p:nvPr/>
        </p:nvSpPr>
        <p:spPr>
          <a:xfrm>
            <a:off x="240036" y="721950"/>
            <a:ext cx="3429000" cy="411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7775">
            <a:solidFill>
              <a:srgbClr val="5A6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68575" spcFirstLastPara="1" rIns="68575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PUZZLING BEHAVIOUR: </a:t>
            </a:r>
            <a:r>
              <a:rPr b="1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Flat </a:t>
            </a: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one-boxing </a:t>
            </a:r>
            <a:r>
              <a:rPr b="1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 predictor accuracy (p)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240036" y="1284306"/>
            <a:ext cx="3429000" cy="411600"/>
          </a:xfrm>
          <a:prstGeom prst="roundRect">
            <a:avLst>
              <a:gd fmla="val 16667" name="adj"/>
            </a:avLst>
          </a:prstGeom>
          <a:solidFill>
            <a:srgbClr val="1B2430"/>
          </a:solidFill>
          <a:ln cap="flat" cmpd="sng" w="17775">
            <a:solidFill>
              <a:srgbClr val="5A6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68575" spcFirstLastPara="1" rIns="68575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Just a format</a:t>
            </a: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ting issue</a:t>
            </a:r>
            <a:r>
              <a:rPr b="1" i="0" lang="en-GB" sz="13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?  (e.g. single-token rsp)</a:t>
            </a:r>
            <a:endParaRPr b="1" sz="1300"/>
          </a:p>
        </p:txBody>
      </p:sp>
      <p:sp>
        <p:nvSpPr>
          <p:cNvPr id="139" name="Google Shape;139;p26"/>
          <p:cNvSpPr txBox="1"/>
          <p:nvPr/>
        </p:nvSpPr>
        <p:spPr>
          <a:xfrm>
            <a:off x="3806291" y="1362336"/>
            <a:ext cx="209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✗  CoT </a:t>
            </a:r>
            <a:r>
              <a:rPr lang="en-GB" sz="1200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elicits</a:t>
            </a:r>
            <a:r>
              <a:rPr b="0" i="0" lang="en-GB" sz="1200" u="none" cap="none" strike="noStrike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 (flat) CDT</a:t>
            </a:r>
            <a:endParaRPr sz="1200"/>
          </a:p>
        </p:txBody>
      </p:sp>
      <p:sp>
        <p:nvSpPr>
          <p:cNvPr id="140" name="Google Shape;140;p26"/>
          <p:cNvSpPr/>
          <p:nvPr/>
        </p:nvSpPr>
        <p:spPr>
          <a:xfrm>
            <a:off x="240036" y="1846662"/>
            <a:ext cx="3429000" cy="411600"/>
          </a:xfrm>
          <a:prstGeom prst="roundRect">
            <a:avLst>
              <a:gd fmla="val 16667" name="adj"/>
            </a:avLst>
          </a:prstGeom>
          <a:solidFill>
            <a:srgbClr val="1B2430"/>
          </a:solidFill>
          <a:ln cap="flat" cmpd="sng" w="17775">
            <a:solidFill>
              <a:srgbClr val="5A6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68575" spcFirstLastPara="1" rIns="68575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Can’t do EV calcs?</a:t>
            </a:r>
            <a:endParaRPr b="1" sz="1600"/>
          </a:p>
        </p:txBody>
      </p:sp>
      <p:sp>
        <p:nvSpPr>
          <p:cNvPr id="141" name="Google Shape;141;p26"/>
          <p:cNvSpPr txBox="1"/>
          <p:nvPr/>
        </p:nvSpPr>
        <p:spPr>
          <a:xfrm>
            <a:off x="3806291" y="1832946"/>
            <a:ext cx="209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GB" sz="1200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still (flat) CDT</a:t>
            </a:r>
            <a:r>
              <a:rPr b="0" i="0" lang="en-GB" sz="1200" u="none" cap="none" strike="noStrike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 even when </a:t>
            </a:r>
            <a:r>
              <a:rPr lang="en-GB" sz="1200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spoon-fed</a:t>
            </a:r>
            <a:r>
              <a:rPr b="0" i="0" lang="en-GB" sz="1200" u="none" cap="none" strike="noStrike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 EV</a:t>
            </a:r>
            <a:endParaRPr sz="1500"/>
          </a:p>
        </p:txBody>
      </p:sp>
      <p:sp>
        <p:nvSpPr>
          <p:cNvPr id="142" name="Google Shape;142;p26"/>
          <p:cNvSpPr/>
          <p:nvPr/>
        </p:nvSpPr>
        <p:spPr>
          <a:xfrm>
            <a:off x="240036" y="2409018"/>
            <a:ext cx="3429000" cy="411600"/>
          </a:xfrm>
          <a:prstGeom prst="roundRect">
            <a:avLst>
              <a:gd fmla="val 16667" name="adj"/>
            </a:avLst>
          </a:prstGeom>
          <a:solidFill>
            <a:srgbClr val="1B2430"/>
          </a:solidFill>
          <a:ln cap="flat" cmpd="sng" w="17775">
            <a:solidFill>
              <a:srgbClr val="5A6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68575" spcFirstLastPara="1" rIns="68575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Scale issue (3b-&gt;14b)?</a:t>
            </a:r>
            <a:endParaRPr b="1" sz="1600"/>
          </a:p>
        </p:txBody>
      </p:sp>
      <p:sp>
        <p:nvSpPr>
          <p:cNvPr id="143" name="Google Shape;143;p26"/>
          <p:cNvSpPr txBox="1"/>
          <p:nvPr/>
        </p:nvSpPr>
        <p:spPr>
          <a:xfrm>
            <a:off x="3806291" y="2395302"/>
            <a:ext cx="209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06A6A"/>
                </a:solidFill>
                <a:latin typeface="Calibri"/>
                <a:ea typeface="Calibri"/>
                <a:cs typeface="Calibri"/>
                <a:sym typeface="Calibri"/>
              </a:rPr>
              <a:t>✗  worse — more committed CDT</a:t>
            </a:r>
            <a:endParaRPr sz="1200"/>
          </a:p>
        </p:txBody>
      </p:sp>
      <p:sp>
        <p:nvSpPr>
          <p:cNvPr id="144" name="Google Shape;144;p26"/>
          <p:cNvSpPr/>
          <p:nvPr/>
        </p:nvSpPr>
        <p:spPr>
          <a:xfrm>
            <a:off x="240036" y="2971374"/>
            <a:ext cx="3429000" cy="411600"/>
          </a:xfrm>
          <a:prstGeom prst="roundRect">
            <a:avLst>
              <a:gd fmla="val 16667" name="adj"/>
            </a:avLst>
          </a:prstGeom>
          <a:solidFill>
            <a:srgbClr val="1B2430"/>
          </a:solidFill>
          <a:ln cap="flat" cmpd="sng" w="17775">
            <a:solidFill>
              <a:srgbClr val="5A6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68575" spcFirstLastPara="1" rIns="68575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GB" sz="13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raming artifact</a:t>
            </a: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? =&gt; </a:t>
            </a:r>
            <a:r>
              <a:rPr b="1" i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make predictor more policy/algorithm like (e.g. FDT)</a:t>
            </a:r>
            <a:endParaRPr b="1" i="1" sz="1300"/>
          </a:p>
        </p:txBody>
      </p:sp>
      <p:sp>
        <p:nvSpPr>
          <p:cNvPr id="145" name="Google Shape;145;p26"/>
          <p:cNvSpPr txBox="1"/>
          <p:nvPr/>
        </p:nvSpPr>
        <p:spPr>
          <a:xfrm>
            <a:off x="3806291" y="2957658"/>
            <a:ext cx="209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E0A64F"/>
                </a:solidFill>
                <a:latin typeface="Calibri"/>
                <a:ea typeface="Calibri"/>
                <a:cs typeface="Calibri"/>
                <a:sym typeface="Calibri"/>
              </a:rPr>
              <a:t>~partly (modest, </a:t>
            </a:r>
            <a:r>
              <a:rPr b="1" lang="en-GB" sz="1200">
                <a:solidFill>
                  <a:srgbClr val="E0A64F"/>
                </a:solidFill>
                <a:latin typeface="Calibri"/>
                <a:ea typeface="Calibri"/>
                <a:cs typeface="Calibri"/>
                <a:sym typeface="Calibri"/>
              </a:rPr>
              <a:t>0.59-&gt;0.69, where 1.0 is EDT</a:t>
            </a:r>
            <a:r>
              <a:rPr b="1" i="0" lang="en-GB" sz="1200" u="none" cap="none" strike="noStrike">
                <a:solidFill>
                  <a:srgbClr val="E0A64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200"/>
          </a:p>
        </p:txBody>
      </p:sp>
      <p:sp>
        <p:nvSpPr>
          <p:cNvPr id="146" name="Google Shape;146;p26"/>
          <p:cNvSpPr/>
          <p:nvPr/>
        </p:nvSpPr>
        <p:spPr>
          <a:xfrm>
            <a:off x="240036" y="3533730"/>
            <a:ext cx="3429000" cy="411600"/>
          </a:xfrm>
          <a:prstGeom prst="roundRect">
            <a:avLst>
              <a:gd fmla="val 16667" name="adj"/>
            </a:avLst>
          </a:prstGeom>
          <a:solidFill>
            <a:srgbClr val="163A20"/>
          </a:solidFill>
          <a:ln cap="flat" cmpd="sng" w="17775">
            <a:solidFill>
              <a:srgbClr val="5A6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68575" spcFirstLastPara="1" rIns="68575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Does reasoning help (R1-distill)?</a:t>
            </a:r>
            <a:endParaRPr b="1" sz="1300"/>
          </a:p>
        </p:txBody>
      </p:sp>
      <p:sp>
        <p:nvSpPr>
          <p:cNvPr id="147" name="Google Shape;147;p26"/>
          <p:cNvSpPr txBox="1"/>
          <p:nvPr/>
        </p:nvSpPr>
        <p:spPr>
          <a:xfrm>
            <a:off x="3806291" y="3591372"/>
            <a:ext cx="209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5FD37A"/>
                </a:solidFill>
                <a:latin typeface="Calibri"/>
                <a:ea typeface="Calibri"/>
                <a:cs typeface="Calibri"/>
                <a:sym typeface="Calibri"/>
              </a:rPr>
              <a:t>✓  tracks p, crossover at p*</a:t>
            </a:r>
            <a:endParaRPr b="1" sz="1200"/>
          </a:p>
        </p:txBody>
      </p:sp>
      <p:cxnSp>
        <p:nvCxnSpPr>
          <p:cNvPr id="148" name="Google Shape;148;p26"/>
          <p:cNvCxnSpPr/>
          <p:nvPr/>
        </p:nvCxnSpPr>
        <p:spPr>
          <a:xfrm>
            <a:off x="1954582" y="1133430"/>
            <a:ext cx="0" cy="150900"/>
          </a:xfrm>
          <a:prstGeom prst="straightConnector1">
            <a:avLst/>
          </a:prstGeom>
          <a:noFill/>
          <a:ln cap="flat" cmpd="sng" w="177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9" name="Google Shape;149;p26"/>
          <p:cNvCxnSpPr/>
          <p:nvPr/>
        </p:nvCxnSpPr>
        <p:spPr>
          <a:xfrm>
            <a:off x="1954582" y="1695786"/>
            <a:ext cx="0" cy="150900"/>
          </a:xfrm>
          <a:prstGeom prst="straightConnector1">
            <a:avLst/>
          </a:prstGeom>
          <a:noFill/>
          <a:ln cap="flat" cmpd="sng" w="177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0" name="Google Shape;150;p26"/>
          <p:cNvCxnSpPr/>
          <p:nvPr/>
        </p:nvCxnSpPr>
        <p:spPr>
          <a:xfrm>
            <a:off x="1954582" y="2258142"/>
            <a:ext cx="0" cy="150900"/>
          </a:xfrm>
          <a:prstGeom prst="straightConnector1">
            <a:avLst/>
          </a:prstGeom>
          <a:noFill/>
          <a:ln cap="flat" cmpd="sng" w="177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1" name="Google Shape;151;p26"/>
          <p:cNvCxnSpPr/>
          <p:nvPr/>
        </p:nvCxnSpPr>
        <p:spPr>
          <a:xfrm>
            <a:off x="1954582" y="2820498"/>
            <a:ext cx="0" cy="150900"/>
          </a:xfrm>
          <a:prstGeom prst="straightConnector1">
            <a:avLst/>
          </a:prstGeom>
          <a:noFill/>
          <a:ln cap="flat" cmpd="sng" w="177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2" name="Google Shape;152;p26"/>
          <p:cNvCxnSpPr/>
          <p:nvPr/>
        </p:nvCxnSpPr>
        <p:spPr>
          <a:xfrm>
            <a:off x="1954582" y="3382854"/>
            <a:ext cx="0" cy="150900"/>
          </a:xfrm>
          <a:prstGeom prst="straightConnector1">
            <a:avLst/>
          </a:prstGeom>
          <a:noFill/>
          <a:ln cap="flat" cmpd="sng" w="177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3" name="Google Shape;153;p26"/>
          <p:cNvSpPr txBox="1"/>
          <p:nvPr/>
        </p:nvSpPr>
        <p:spPr>
          <a:xfrm>
            <a:off x="6138000" y="650300"/>
            <a:ext cx="2777700" cy="3936000"/>
          </a:xfrm>
          <a:prstGeom prst="rect">
            <a:avLst/>
          </a:prstGeom>
          <a:solidFill>
            <a:srgbClr val="14202E"/>
          </a:solidFill>
          <a:ln cap="flat" cmpd="sng" w="19050">
            <a:solidFill>
              <a:srgbClr val="4F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What might RL add?</a:t>
            </a:r>
            <a:endParaRPr b="1" sz="13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269999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Char char="-"/>
            </a:pPr>
            <a:r>
              <a:rPr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Outcome RL changes </a:t>
            </a:r>
            <a:r>
              <a:rPr b="1"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disposition</a:t>
            </a:r>
            <a:r>
              <a:rPr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(more EDT across all p values)</a:t>
            </a:r>
            <a:endParaRPr sz="11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269999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Char char="-"/>
            </a:pPr>
            <a:r>
              <a:rPr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Ditto SFT on EDT-traces</a:t>
            </a:r>
            <a:endParaRPr sz="11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269999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Char char="-"/>
            </a:pPr>
            <a:r>
              <a:rPr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We need to teach </a:t>
            </a:r>
            <a:r>
              <a:rPr b="1"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GB" sz="11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(i.e. conditional rule)</a:t>
            </a:r>
            <a:endParaRPr sz="11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E8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E8E8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Mostly, (naive) RL just encourages basin-finding</a:t>
            </a:r>
            <a:endParaRPr b="1">
              <a:solidFill>
                <a:srgbClr val="E8E8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1688558" y="3847200"/>
            <a:ext cx="4460425" cy="816775"/>
          </a:xfrm>
          <a:custGeom>
            <a:rect b="b" l="l" r="r" t="t"/>
            <a:pathLst>
              <a:path extrusionOk="0" h="32671" w="178417">
                <a:moveTo>
                  <a:pt x="10014" y="4893"/>
                </a:moveTo>
                <a:cubicBezTo>
                  <a:pt x="10558" y="9514"/>
                  <a:pt x="-14791" y="33437"/>
                  <a:pt x="13276" y="32621"/>
                </a:cubicBezTo>
                <a:cubicBezTo>
                  <a:pt x="41343" y="31806"/>
                  <a:pt x="150894" y="5437"/>
                  <a:pt x="178418" y="0"/>
                </a:cubicBezTo>
              </a:path>
            </a:pathLst>
          </a:custGeom>
          <a:noFill/>
          <a:ln cap="flat" cmpd="sng" w="1143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55" name="Google Shape;155;p26"/>
          <p:cNvSpPr/>
          <p:nvPr/>
        </p:nvSpPr>
        <p:spPr>
          <a:xfrm>
            <a:off x="5469725" y="314200"/>
            <a:ext cx="428166" cy="407754"/>
          </a:xfrm>
          <a:prstGeom prst="irregularSeal2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5965675" y="4615523"/>
            <a:ext cx="3102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00">
                <a:solidFill>
                  <a:srgbClr val="5FD37A"/>
                </a:solidFill>
                <a:latin typeface="Calibri"/>
                <a:ea typeface="Calibri"/>
                <a:cs typeface="Calibri"/>
                <a:sym typeface="Calibri"/>
              </a:rPr>
              <a:t>Caveat: 2 LLMs (Qwen2.5/R1-distill); a few prompts/variations; truncated reasoning</a:t>
            </a:r>
            <a:endParaRPr b="1" i="1" sz="1000">
              <a:solidFill>
                <a:srgbClr val="5FD3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308618" y="150876"/>
            <a:ext cx="850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Naive RL doesn’t help =&gt; moves disposition, doesn’t install conditional rule</a:t>
            </a:r>
            <a:endParaRPr sz="1100"/>
          </a:p>
        </p:txBody>
      </p:sp>
      <p:pic>
        <p:nvPicPr>
          <p:cNvPr descr="krate.png" id="162" name="Google Shape;1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14" y="925830"/>
            <a:ext cx="5829300" cy="385867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445716" y="4784510"/>
            <a:ext cx="8229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• Flat in p = recitation/disposition; a step at p* = structural EV reasoning. Only R1 (reasoning) tracks p, with the crossover at the theoretical p*=0.8.</a:t>
            </a:r>
            <a:endParaRPr sz="1100"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7620" y="1563745"/>
            <a:ext cx="1827275" cy="246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How to implement omega/predictor?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7439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195700" y="4265175"/>
            <a:ext cx="863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Caveat: this isn’t true process reward/supervision. We are scoring an outcome (1-2 box), but that outcome was produced by a reasoning trace; RLOO doesn’t judge </a:t>
            </a:r>
            <a:r>
              <a:rPr i="1" lang="en-GB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</a:t>
            </a:r>
            <a:r>
              <a:rPr i="1" lang="en-GB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correctness of that reasoning/trace specifically. But the entire chain is rewarded (more correlation than causation) i.e. the credit is “smeared” across a reasoning chain.</a:t>
            </a:r>
            <a:endParaRPr i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Extensions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460775" y="1237550"/>
            <a:ext cx="811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-"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Redo predictor sampling on (lagged) policy to get a clean result (longer reasoning, 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samples)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-"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 process 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supervision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teach conditional rule-following (score whether reasoning was actually correct </a:t>
            </a: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gave a correct answer)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-"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Thought-anchors style understanding of reasoning chain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/>
        </p:nvSpPr>
        <p:spPr>
          <a:xfrm>
            <a:off x="308618" y="150876"/>
            <a:ext cx="850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E8E8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Appendix: How Newcomb’s should work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recipe.png" id="183" name="Google Shape;18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00" y="994410"/>
            <a:ext cx="8366761" cy="370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